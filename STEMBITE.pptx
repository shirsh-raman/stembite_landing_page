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Allocation of ₹50 lakh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₹ lakh</c:v>
                </c:pt>
              </c:strCache>
            </c:strRef>
          </c:tx>
          <c:invertIfNegative val="1"/>
          <c:cat>
            <c:strRef>
              <c:f>Sheet1!$A$2:$A$12</c:f>
              <c:strCache>
                <c:ptCount val="11"/>
                <c:pt idx="0">
                  <c:v>Machinery</c:v>
                </c:pt>
                <c:pt idx="1">
                  <c:v>Facility</c:v>
                </c:pt>
                <c:pt idx="2">
                  <c:v>Raw material</c:v>
                </c:pt>
                <c:pt idx="3">
                  <c:v>R&amp;D</c:v>
                </c:pt>
                <c:pt idx="4">
                  <c:v>Employees</c:v>
                </c:pt>
                <c:pt idx="5">
                  <c:v>Packaging</c:v>
                </c:pt>
                <c:pt idx="6">
                  <c:v>Marketing</c:v>
                </c:pt>
                <c:pt idx="7">
                  <c:v>Sales</c:v>
                </c:pt>
                <c:pt idx="8">
                  <c:v>Analytics</c:v>
                </c:pt>
                <c:pt idx="9">
                  <c:v>Logistics</c:v>
                </c:pt>
                <c:pt idx="10">
                  <c:v>Working capital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  <c:pt idx="5">
                  <c:v>3</c:v>
                </c:pt>
                <c:pt idx="6">
                  <c:v>4</c:v>
                </c:pt>
                <c:pt idx="7">
                  <c:v>2.5</c:v>
                </c:pt>
                <c:pt idx="8">
                  <c:v>2</c:v>
                </c:pt>
                <c:pt idx="9">
                  <c:v>2</c:v>
                </c:pt>
                <c:pt idx="1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B-4EEC-93E7-E4677F30D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/>
              <a:t>₹4 lakh marketing budget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Digital/Social</c:v>
                </c:pt>
                <c:pt idx="1">
                  <c:v>Sampling</c:v>
                </c:pt>
                <c:pt idx="2">
                  <c:v>Influencers</c:v>
                </c:pt>
                <c:pt idx="3">
                  <c:v>Retail branding</c:v>
                </c:pt>
                <c:pt idx="4">
                  <c:v>Events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7B-470F-9E23-64695F080A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IN"/>
              <a:t>Target sales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mix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B2C</c:v>
                </c:pt>
                <c:pt idx="1">
                  <c:v>B2B</c:v>
                </c:pt>
                <c:pt idx="2">
                  <c:v>Institutional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5-4CFC-A2EA-0C24EFB8DE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60130358705161857"/>
          <c:y val="0.19715004374453193"/>
          <c:w val="0.34005443763973947"/>
          <c:h val="0.6876443569553806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Projected revenue by product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₹ lakh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Fibre powder</c:v>
                </c:pt>
                <c:pt idx="1">
                  <c:v>Flour blend</c:v>
                </c:pt>
                <c:pt idx="2">
                  <c:v>Functional mix</c:v>
                </c:pt>
                <c:pt idx="3">
                  <c:v>Biscuits</c:v>
                </c:pt>
                <c:pt idx="4">
                  <c:v>B2B fibre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6.4</c:v>
                </c:pt>
                <c:pt idx="2">
                  <c:v>7.5</c:v>
                </c:pt>
                <c:pt idx="3">
                  <c:v>21</c:v>
                </c:pt>
                <c:pt idx="4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5A-4C3F-A37B-703E04D8D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693E"/>
                </a:solidFill>
              </a:defRPr>
            </a:pPr>
            <a:r>
              <a:t>STEMBITE FOODS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33028"/>
                </a:solidFill>
              </a:defRPr>
            </a:pPr>
            <a:r>
              <a:t>From Farm Waste to Everyday Nutrition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46120"/>
            <a:ext cx="5120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3355848"/>
            <a:ext cx="4791455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dirty="0"/>
              <a:t>BUSINESS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lang="en-IN" sz="1600" dirty="0"/>
              <a:t>               </a:t>
            </a:r>
            <a:r>
              <a:rPr sz="1600" dirty="0"/>
              <a:t>Banana Stem-Based Food Products</a:t>
            </a:r>
            <a:br>
              <a:rPr sz="1600" dirty="0"/>
            </a:br>
            <a:r>
              <a:rPr lang="en-IN" sz="1600" dirty="0"/>
              <a:t>                                      </a:t>
            </a:r>
            <a:r>
              <a:rPr sz="1600" dirty="0"/>
              <a:t>B2C + B2B | Agri-food startup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2461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18504" y="3434902"/>
            <a:ext cx="4882896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USP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lang="en-IN" sz="1400" dirty="0"/>
              <a:t>      </a:t>
            </a:r>
            <a:r>
              <a:rPr sz="1400" dirty="0"/>
              <a:t>“</a:t>
            </a:r>
            <a:r>
              <a:rPr sz="1400" dirty="0" err="1"/>
              <a:t>केले</a:t>
            </a:r>
            <a:r>
              <a:rPr sz="1400" dirty="0"/>
              <a:t> </a:t>
            </a:r>
            <a:r>
              <a:rPr sz="1400" dirty="0" err="1"/>
              <a:t>का</a:t>
            </a:r>
            <a:r>
              <a:rPr sz="1400" dirty="0"/>
              <a:t> </a:t>
            </a:r>
            <a:r>
              <a:rPr sz="1400" dirty="0" err="1"/>
              <a:t>तना</a:t>
            </a:r>
            <a:r>
              <a:rPr sz="1400" dirty="0"/>
              <a:t>, </a:t>
            </a:r>
            <a:r>
              <a:rPr sz="1400" dirty="0" err="1"/>
              <a:t>अब</a:t>
            </a:r>
            <a:r>
              <a:rPr sz="1400" dirty="0"/>
              <a:t> </a:t>
            </a:r>
            <a:r>
              <a:rPr sz="1400" dirty="0" err="1"/>
              <a:t>कचरा</a:t>
            </a:r>
            <a:r>
              <a:rPr sz="1400" dirty="0"/>
              <a:t> </a:t>
            </a:r>
            <a:r>
              <a:rPr sz="1400" dirty="0" err="1"/>
              <a:t>नहीं</a:t>
            </a:r>
            <a:r>
              <a:rPr sz="1400" dirty="0"/>
              <a:t>—</a:t>
            </a:r>
            <a:r>
              <a:rPr sz="1400" dirty="0" err="1"/>
              <a:t>पोषण</a:t>
            </a:r>
            <a:r>
              <a:rPr sz="1400" dirty="0"/>
              <a:t> </a:t>
            </a:r>
            <a:r>
              <a:rPr sz="1400" dirty="0" err="1"/>
              <a:t>और</a:t>
            </a:r>
            <a:r>
              <a:rPr sz="1400" dirty="0"/>
              <a:t> </a:t>
            </a:r>
            <a:r>
              <a:rPr sz="1400" dirty="0" err="1"/>
              <a:t>कमाई</a:t>
            </a:r>
            <a:r>
              <a:rPr sz="1400" dirty="0"/>
              <a:t> </a:t>
            </a:r>
            <a:r>
              <a:rPr sz="1400" dirty="0" err="1"/>
              <a:t>का</a:t>
            </a:r>
            <a:r>
              <a:rPr sz="1400" dirty="0"/>
              <a:t> </a:t>
            </a:r>
            <a:r>
              <a:rPr sz="1400" dirty="0" err="1"/>
              <a:t>नया</a:t>
            </a:r>
            <a:r>
              <a:rPr sz="1400" dirty="0"/>
              <a:t> </a:t>
            </a:r>
            <a:r>
              <a:rPr sz="1400" dirty="0" err="1"/>
              <a:t>ज़रिया</a:t>
            </a:r>
            <a:r>
              <a:rPr sz="1400" dirty="0"/>
              <a:t>!”</a:t>
            </a:r>
            <a:endParaRPr dirty="0"/>
          </a:p>
        </p:txBody>
      </p:sp>
      <p:sp>
        <p:nvSpPr>
          <p:cNvPr id="9" name="Oval 8"/>
          <p:cNvSpPr/>
          <p:nvPr/>
        </p:nvSpPr>
        <p:spPr>
          <a:xfrm rot="1500000">
            <a:off x="1920240" y="4937760"/>
            <a:ext cx="685800" cy="274320"/>
          </a:xfrm>
          <a:prstGeom prst="ellipse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 rot="20100000">
            <a:off x="2304288" y="4773168"/>
            <a:ext cx="685800" cy="274320"/>
          </a:xfrm>
          <a:prstGeom prst="ellipse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 rot="1500000">
            <a:off x="2688336" y="4937760"/>
            <a:ext cx="685800" cy="274320"/>
          </a:xfrm>
          <a:prstGeom prst="ellipse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 rot="20100000">
            <a:off x="3072384" y="4773168"/>
            <a:ext cx="685800" cy="274320"/>
          </a:xfrm>
          <a:prstGeom prst="ellipse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 rot="1500000">
            <a:off x="3456432" y="4937760"/>
            <a:ext cx="685800" cy="274320"/>
          </a:xfrm>
          <a:prstGeom prst="ellipse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 rot="20100000">
            <a:off x="3840480" y="4773168"/>
            <a:ext cx="685800" cy="274320"/>
          </a:xfrm>
          <a:prstGeom prst="ellipse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47A179B-3986-4974-AD37-C273D73E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5BB483-938C-D370-3AEF-529D55947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383" y="518861"/>
            <a:ext cx="2566072" cy="24826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01  Problem &amp; opportunity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167128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76856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02  Solution &amp; product portfolio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916936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026664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03  Business model &amp; supply chain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666744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776472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04  Market &amp; competition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4416552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4526280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05  Marketing strategy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5166359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5276088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06  Sales strategy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59" y="1417320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1" y="1527048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07  Data analytics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59" y="2167128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1" y="2276856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08  Operations, R&amp;D &amp; quality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09359" y="2916936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1" y="3026664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09  ₹50 lakh investment plan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09359" y="3666744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1" y="3776472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10  Revenue, profit &amp; ROI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59" y="4416552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1" y="4526280"/>
            <a:ext cx="4837176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11 </a:t>
            </a:r>
            <a:r>
              <a:rPr lang="en-IN" dirty="0"/>
              <a:t>A</a:t>
            </a:r>
            <a:r>
              <a:rPr dirty="0" err="1"/>
              <a:t>sk</a:t>
            </a:r>
            <a:endParaRPr dirty="0"/>
          </a:p>
          <a:p>
            <a:pPr>
              <a:defRPr sz="1150">
                <a:solidFill>
                  <a:srgbClr val="233028"/>
                </a:solidFill>
              </a:defRPr>
            </a:pP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309359" y="5166359"/>
            <a:ext cx="51663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1" y="5276088"/>
            <a:ext cx="4837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12  Closing vision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2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61D701B-FA08-7FB2-4B1D-5D13DDA00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t>1. PROBLEM &amp; 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314553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🌱 AGRICULTURAL RESIDUE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Banana </a:t>
            </a:r>
            <a:r>
              <a:rPr sz="1400" dirty="0" err="1"/>
              <a:t>pseudostem</a:t>
            </a:r>
            <a:r>
              <a:rPr sz="1400" dirty="0"/>
              <a:t> is an underutilized by-product after harvest.</a:t>
            </a:r>
            <a:br>
              <a:rPr sz="1400" dirty="0"/>
            </a:br>
            <a:br>
              <a:rPr sz="1400" dirty="0"/>
            </a:br>
            <a:r>
              <a:rPr sz="1400" dirty="0"/>
              <a:t>Farmers receive limited value from the residue.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5424" y="1527048"/>
            <a:ext cx="3145536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dirty="0"/>
              <a:t>🥗 CONSUMER NEED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Demand opportunity for convenient, </a:t>
            </a:r>
            <a:r>
              <a:rPr sz="1400" dirty="0" err="1"/>
              <a:t>fibre</a:t>
            </a:r>
            <a:r>
              <a:rPr sz="1400" dirty="0"/>
              <a:t>-rich food ingredients and products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5864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0456" y="1527048"/>
            <a:ext cx="3145536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💡 BUSINESS GAP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600" dirty="0"/>
              <a:t>Existing banana-stem powder products validate the idea, but the market is fragmented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77639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667" y="4165092"/>
            <a:ext cx="15063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rPr sz="1600" dirty="0"/>
              <a:t>Banana harvest</a:t>
            </a:r>
          </a:p>
        </p:txBody>
      </p:sp>
      <p:sp>
        <p:nvSpPr>
          <p:cNvPr id="12" name="Chevron 11"/>
          <p:cNvSpPr/>
          <p:nvPr/>
        </p:nvSpPr>
        <p:spPr>
          <a:xfrm>
            <a:off x="2699308" y="427939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18180" y="3977639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4719" y="4178807"/>
            <a:ext cx="12244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rPr sz="1600" dirty="0" err="1"/>
              <a:t>Pseudostem</a:t>
            </a:r>
            <a:endParaRPr sz="1600" dirty="0"/>
          </a:p>
        </p:txBody>
      </p:sp>
      <p:sp>
        <p:nvSpPr>
          <p:cNvPr id="15" name="Chevron 14"/>
          <p:cNvSpPr/>
          <p:nvPr/>
        </p:nvSpPr>
        <p:spPr>
          <a:xfrm>
            <a:off x="4923129" y="427939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42001" y="3977639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766" y="4178807"/>
            <a:ext cx="21019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rPr sz="1600" dirty="0"/>
              <a:t>Food-grade processing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7146950" y="427939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65822" y="3977639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61904" y="4178807"/>
            <a:ext cx="12853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rPr sz="1600" dirty="0" err="1"/>
              <a:t>Fibre</a:t>
            </a:r>
            <a:r>
              <a:rPr sz="1600" dirty="0"/>
              <a:t> + foods</a:t>
            </a:r>
          </a:p>
        </p:txBody>
      </p:sp>
      <p:sp>
        <p:nvSpPr>
          <p:cNvPr id="21" name="Chevron 20"/>
          <p:cNvSpPr/>
          <p:nvPr/>
        </p:nvSpPr>
        <p:spPr>
          <a:xfrm>
            <a:off x="9370771" y="427939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89643" y="3977639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50688" y="4178807"/>
            <a:ext cx="15554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rPr sz="1600" dirty="0"/>
              <a:t>Consumer value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257800"/>
            <a:ext cx="8138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5367528"/>
            <a:ext cx="780897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RESEARCH SIGNAL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Published research has reported meaningful dietary-fibre content in banana pseudostem.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3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19155C1-3E82-3986-B8D6-482F70698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t>2. OUR SOLUTION &amp; PRODUCT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35607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sz="1600" dirty="0"/>
              <a:t>⭐ STEMBITE </a:t>
            </a:r>
            <a:r>
              <a:rPr sz="1600" dirty="0" err="1"/>
              <a:t>Fibre</a:t>
            </a:r>
            <a:r>
              <a:rPr sz="1600" dirty="0"/>
              <a:t>+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Flagship </a:t>
            </a:r>
            <a:r>
              <a:rPr sz="1400" dirty="0" err="1"/>
              <a:t>fibre</a:t>
            </a:r>
            <a:r>
              <a:rPr sz="1400" dirty="0"/>
              <a:t> powder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1435607"/>
            <a:ext cx="309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600" dirty="0"/>
              <a:t>STEMBITE Flour+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600" dirty="0"/>
              <a:t>High-</a:t>
            </a:r>
            <a:r>
              <a:rPr sz="1600" dirty="0" err="1"/>
              <a:t>fibre</a:t>
            </a:r>
            <a:r>
              <a:rPr sz="1600" dirty="0"/>
              <a:t> flour blend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94192" y="1435607"/>
            <a:ext cx="309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600" dirty="0"/>
              <a:t>STEMBITE Mix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600" dirty="0"/>
              <a:t>Functional food 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3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401568"/>
            <a:ext cx="309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600" dirty="0"/>
              <a:t>STEMBITE Bites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600" dirty="0" err="1"/>
              <a:t>Fibre</a:t>
            </a:r>
            <a:r>
              <a:rPr sz="1600" dirty="0"/>
              <a:t>-enriched biscuits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29183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3401568"/>
            <a:ext cx="309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600" dirty="0"/>
              <a:t>STEMBITE Pro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600" dirty="0"/>
              <a:t>B2B food-grade </a:t>
            </a:r>
            <a:r>
              <a:rPr sz="1600" dirty="0" err="1"/>
              <a:t>fibre</a:t>
            </a:r>
            <a:endParaRPr sz="1600" dirty="0"/>
          </a:p>
        </p:txBody>
      </p:sp>
      <p:sp>
        <p:nvSpPr>
          <p:cNvPr id="14" name="Rounded Rectangle 13"/>
          <p:cNvSpPr/>
          <p:nvPr/>
        </p:nvSpPr>
        <p:spPr>
          <a:xfrm>
            <a:off x="822960" y="5486400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5596128"/>
            <a:ext cx="10186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PRODUCT ROADMAP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Year 1: Powder + Flour  |  Year 2: Biscuits + Mix  |  Year 3: B2B ingredient scale-up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EFD8A6-3DC2-2851-58D9-6341B732C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t>3. BUSINESS MODEL &amp; SUPPLY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847088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Farmers / FPOs</a:t>
            </a:r>
          </a:p>
        </p:txBody>
      </p:sp>
      <p:sp>
        <p:nvSpPr>
          <p:cNvPr id="6" name="Chevron 5"/>
          <p:cNvSpPr/>
          <p:nvPr/>
        </p:nvSpPr>
        <p:spPr>
          <a:xfrm>
            <a:off x="2699308" y="19476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18180" y="164592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91332" y="1847088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Collection centres</a:t>
            </a:r>
          </a:p>
        </p:txBody>
      </p:sp>
      <p:sp>
        <p:nvSpPr>
          <p:cNvPr id="9" name="Chevron 8"/>
          <p:cNvSpPr/>
          <p:nvPr/>
        </p:nvSpPr>
        <p:spPr>
          <a:xfrm>
            <a:off x="4923129" y="19476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42001" y="164592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15153" y="1847088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Processing unit</a:t>
            </a:r>
          </a:p>
        </p:txBody>
      </p:sp>
      <p:sp>
        <p:nvSpPr>
          <p:cNvPr id="12" name="Chevron 11"/>
          <p:cNvSpPr/>
          <p:nvPr/>
        </p:nvSpPr>
        <p:spPr>
          <a:xfrm>
            <a:off x="7146950" y="19476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65822" y="164592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38974" y="1847088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Quality testing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0771" y="19476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89643" y="164592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62795" y="1847088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STEMBITE 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385876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B2C</a:t>
            </a:r>
          </a:p>
        </p:txBody>
      </p:sp>
      <p:sp>
        <p:nvSpPr>
          <p:cNvPr id="20" name="Chevron 19"/>
          <p:cNvSpPr/>
          <p:nvPr/>
        </p:nvSpPr>
        <p:spPr>
          <a:xfrm>
            <a:off x="3255263" y="395935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74136" y="365760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47288" y="385876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Website / E-commerce</a:t>
            </a:r>
          </a:p>
        </p:txBody>
      </p:sp>
      <p:sp>
        <p:nvSpPr>
          <p:cNvPr id="23" name="Chevron 22"/>
          <p:cNvSpPr/>
          <p:nvPr/>
        </p:nvSpPr>
        <p:spPr>
          <a:xfrm>
            <a:off x="6035040" y="395935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53912" y="365760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27064" y="385876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Retail</a:t>
            </a:r>
          </a:p>
        </p:txBody>
      </p:sp>
      <p:sp>
        <p:nvSpPr>
          <p:cNvPr id="26" name="Chevron 25"/>
          <p:cNvSpPr/>
          <p:nvPr/>
        </p:nvSpPr>
        <p:spPr>
          <a:xfrm>
            <a:off x="8814815" y="395935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33688" y="365760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385876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Consumers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8348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518464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B2B</a:t>
            </a:r>
          </a:p>
        </p:txBody>
      </p:sp>
      <p:sp>
        <p:nvSpPr>
          <p:cNvPr id="31" name="Chevron 30"/>
          <p:cNvSpPr/>
          <p:nvPr/>
        </p:nvSpPr>
        <p:spPr>
          <a:xfrm>
            <a:off x="3255263" y="52852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374136" y="498348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47288" y="518464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Bakeries</a:t>
            </a:r>
          </a:p>
        </p:txBody>
      </p:sp>
      <p:sp>
        <p:nvSpPr>
          <p:cNvPr id="34" name="Chevron 33"/>
          <p:cNvSpPr/>
          <p:nvPr/>
        </p:nvSpPr>
        <p:spPr>
          <a:xfrm>
            <a:off x="6035040" y="52852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53912" y="498348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27064" y="518464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Food manufacturers</a:t>
            </a:r>
          </a:p>
        </p:txBody>
      </p:sp>
      <p:sp>
        <p:nvSpPr>
          <p:cNvPr id="37" name="Chevron 36"/>
          <p:cNvSpPr/>
          <p:nvPr/>
        </p:nvSpPr>
        <p:spPr>
          <a:xfrm>
            <a:off x="8814815" y="52852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933688" y="4983480"/>
            <a:ext cx="263347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5184648"/>
            <a:ext cx="24871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Ingredient buyers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5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CEEB607-FF82-D318-613F-EE882621A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t>4. MARKET &amp; COMPETITION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4754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389888"/>
            <a:ext cx="442569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sz="1600" dirty="0"/>
              <a:t>MARKET REALITY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Banana-stem powder is already available in India. We compete through better positioning—not a “first ever”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880360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953512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Existing powder brands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2880360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2953512"/>
            <a:ext cx="2871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Powder / wellness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880360"/>
            <a:ext cx="4663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2953512"/>
            <a:ext cx="4517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Standardized food-grade portfolio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02152"/>
            <a:ext cx="2926080" cy="530352"/>
          </a:xfrm>
          <a:prstGeom prst="rect">
            <a:avLst/>
          </a:prstGeom>
          <a:solidFill>
            <a:srgbClr val="EDF3ED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575304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Herbal/wellness sellers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502152"/>
            <a:ext cx="3017520" cy="530352"/>
          </a:xfrm>
          <a:prstGeom prst="rect">
            <a:avLst/>
          </a:prstGeom>
          <a:solidFill>
            <a:srgbClr val="EDF3ED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3575304"/>
            <a:ext cx="2871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Traditional positioning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502152"/>
            <a:ext cx="4663440" cy="530352"/>
          </a:xfrm>
          <a:prstGeom prst="rect">
            <a:avLst/>
          </a:prstGeom>
          <a:solidFill>
            <a:srgbClr val="EDF3ED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02552" y="3575304"/>
            <a:ext cx="4517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Modern food + traceability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23944"/>
            <a:ext cx="29260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197096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High-fibre food brands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4123944"/>
            <a:ext cx="30175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2" y="4197096"/>
            <a:ext cx="2871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Conventional ingredients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4123944"/>
            <a:ext cx="4663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02552" y="4197096"/>
            <a:ext cx="4517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Agri-waste-based fibre 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45736"/>
            <a:ext cx="2926080" cy="530352"/>
          </a:xfrm>
          <a:prstGeom prst="rect">
            <a:avLst/>
          </a:prstGeom>
          <a:solidFill>
            <a:srgbClr val="EDF3ED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818888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Bakeries / manufacturers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4745736"/>
            <a:ext cx="3017520" cy="530352"/>
          </a:xfrm>
          <a:prstGeom prst="rect">
            <a:avLst/>
          </a:prstGeom>
          <a:solidFill>
            <a:srgbClr val="EDF3ED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85032" y="4818888"/>
            <a:ext cx="2871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Alternative ingredients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745736"/>
            <a:ext cx="4663440" cy="530352"/>
          </a:xfrm>
          <a:prstGeom prst="rect">
            <a:avLst/>
          </a:prstGeom>
          <a:solidFill>
            <a:srgbClr val="EDF3ED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02552" y="4818888"/>
            <a:ext cx="45171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3028"/>
                </a:solidFill>
              </a:defRPr>
            </a:pPr>
            <a:r>
              <a:t>B2B fibre supply + farmer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128016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88552" y="1389888"/>
            <a:ext cx="20939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400" dirty="0"/>
              <a:t>OUR EDGE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Food-grade</a:t>
            </a:r>
            <a:br>
              <a:rPr sz="1400" dirty="0"/>
            </a:br>
            <a:r>
              <a:rPr sz="1400" dirty="0"/>
              <a:t>Multi-product</a:t>
            </a:r>
            <a:br>
              <a:rPr sz="1400" dirty="0"/>
            </a:br>
            <a:r>
              <a:rPr sz="1400" dirty="0"/>
              <a:t>Farmer-linked</a:t>
            </a:r>
            <a:br>
              <a:rPr sz="1400" dirty="0"/>
            </a:br>
            <a:r>
              <a:rPr sz="1400" dirty="0"/>
              <a:t>B2B + B2C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6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8716A55-379A-7E85-2FB7-C637D2EB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745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rPr lang="en-IN" dirty="0"/>
              <a:t>5</a:t>
            </a:r>
            <a:r>
              <a:rPr dirty="0"/>
              <a:t>. ₹50 LAKH STARTUP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62"/>
                </a:solidFill>
              </a:defRPr>
            </a:pPr>
            <a:r>
              <a:t>Illustrative project allocation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34440"/>
          <a:ext cx="658368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325880"/>
            <a:ext cx="3840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08392" y="1435607"/>
            <a:ext cx="35112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CAPEX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Capital Expenditure</a:t>
            </a:r>
            <a:br/>
            <a:r>
              <a:t>Machinery + facility = ₹21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606040"/>
            <a:ext cx="3840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2715768"/>
            <a:ext cx="35112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OPEX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Operating Expenditure</a:t>
            </a:r>
            <a:br/>
            <a:r>
              <a:t>Day-to-day operating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886200"/>
            <a:ext cx="3840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3995928"/>
            <a:ext cx="351129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R&amp;D + DATA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R&amp;D ₹3 L + Data analytics ₹2 L</a:t>
            </a:r>
            <a:br/>
            <a:r>
              <a:t>Build product + decision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5166360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5276088"/>
            <a:ext cx="3511296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TOTAL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₹50 LAKH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328968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rPr dirty="0"/>
              <a:t>STEMBITE FOODS  |  Team 1  |  Marketing of Agricultural Products     </a:t>
            </a:r>
            <a:r>
              <a:rPr lang="en-IN" dirty="0"/>
              <a:t>7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FE4E97-9035-15AD-34A0-C0222D33C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9673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rPr lang="en-IN" dirty="0"/>
              <a:t>6</a:t>
            </a:r>
            <a:r>
              <a:rPr dirty="0"/>
              <a:t>.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62"/>
                </a:solidFill>
              </a:defRPr>
            </a:pPr>
            <a:r>
              <a:t>Campaign: WASTE SE WELLNESS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89888"/>
            <a:ext cx="296265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🎯 TARGET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Health-conscious consumers</a:t>
            </a:r>
            <a:br/>
            <a:r>
              <a:t>Fitness &amp; wellness</a:t>
            </a:r>
            <a:br/>
            <a:r>
              <a:t>Families</a:t>
            </a:r>
            <a:br/>
            <a:r>
              <a:t>Bakeries &amp; food manufacturers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28016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6552" y="1389888"/>
            <a:ext cx="296265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📣 MESSAGE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Agricultural waste</a:t>
            </a:r>
            <a:br/>
            <a:r>
              <a:t>→ Food-grade fibre</a:t>
            </a:r>
            <a:br/>
            <a:r>
              <a:t>→ Convenient nutrition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28016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9092" y="1451335"/>
            <a:ext cx="3291840" cy="518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🔁 FUNNEL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dirty="0"/>
              <a:t>Awareness → Trial→ Purchase → </a:t>
            </a:r>
            <a:r>
              <a:rPr dirty="0" err="1"/>
              <a:t>Repeat→Loyalty</a:t>
            </a:r>
            <a:endParaRPr dirty="0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3154680"/>
          <a:ext cx="4754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760720" y="333756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25312" y="3447288"/>
            <a:ext cx="4882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600" dirty="0"/>
              <a:t>KPI DASHBOARD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CAC — Customer Acquisition Cost</a:t>
            </a:r>
            <a:br>
              <a:rPr sz="1400" dirty="0"/>
            </a:br>
            <a:r>
              <a:rPr sz="1400" dirty="0"/>
              <a:t>Conversion rate — % of prospects who buy</a:t>
            </a:r>
            <a:br>
              <a:rPr sz="1400" dirty="0"/>
            </a:br>
            <a:r>
              <a:rPr sz="1400" dirty="0"/>
              <a:t>Repeat purchase rate — retention</a:t>
            </a:r>
            <a:br>
              <a:rPr sz="1400" dirty="0"/>
            </a:br>
            <a:r>
              <a:rPr sz="1400" dirty="0"/>
              <a:t>Marketing ROI — return from marketing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328968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rPr dirty="0"/>
              <a:t>STEMBITE FOODS  |  Team 1  |  Marketing of Agricultural Products     </a:t>
            </a:r>
            <a:r>
              <a:rPr lang="en-IN" dirty="0"/>
              <a:t>8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1FE235-078D-0000-FD6D-F2E12A1E5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8124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rPr lang="en-IN" dirty="0"/>
              <a:t>7</a:t>
            </a:r>
            <a:r>
              <a:rPr dirty="0"/>
              <a:t>. SALES STRATEGY + DATA ANALYTICS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206453"/>
              </p:ext>
            </p:extLst>
          </p:nvPr>
        </p:nvGraphicFramePr>
        <p:xfrm>
          <a:off x="685800" y="132588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74920" y="1280160"/>
            <a:ext cx="2971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9512" y="1389888"/>
            <a:ext cx="264261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sz="1600" dirty="0"/>
              <a:t>🛒 SALES CHANNELS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B2C: website, e-commerce, supermarkets</a:t>
            </a:r>
            <a:br>
              <a:rPr sz="1400" dirty="0"/>
            </a:br>
            <a:r>
              <a:rPr sz="1400" dirty="0"/>
              <a:t>B2B: bakeries, food manufacturers</a:t>
            </a:r>
            <a:br>
              <a:rPr sz="1400" dirty="0"/>
            </a:br>
            <a:r>
              <a:rPr sz="1400" dirty="0"/>
              <a:t>Institutional: specialty retail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280160"/>
            <a:ext cx="2971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39912" y="1389888"/>
            <a:ext cx="2642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sz="1600" dirty="0"/>
              <a:t>📊 DATA INPUTS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sz="1400" dirty="0"/>
              <a:t>Farmer: supply</a:t>
            </a:r>
            <a:br>
              <a:rPr sz="1400" dirty="0"/>
            </a:br>
            <a:r>
              <a:rPr sz="1400" dirty="0"/>
              <a:t>Production: yield &amp; wastage</a:t>
            </a:r>
            <a:br>
              <a:rPr sz="1400" dirty="0"/>
            </a:br>
            <a:r>
              <a:rPr sz="1400" dirty="0"/>
              <a:t>Customer: preference</a:t>
            </a:r>
            <a:br>
              <a:rPr sz="1400" dirty="0"/>
            </a:br>
            <a:r>
              <a:rPr sz="1400" dirty="0"/>
              <a:t>Sales: channel &amp;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52628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2642" y="4791456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Data collection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699308" y="48280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18180" y="452628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69388" y="4800059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Analysis</a:t>
            </a:r>
          </a:p>
        </p:txBody>
      </p:sp>
      <p:sp>
        <p:nvSpPr>
          <p:cNvPr id="14" name="Chevron 13"/>
          <p:cNvSpPr/>
          <p:nvPr/>
        </p:nvSpPr>
        <p:spPr>
          <a:xfrm>
            <a:off x="4923129" y="48280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2001" y="452628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15153" y="4800059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Forecast</a:t>
            </a:r>
          </a:p>
        </p:txBody>
      </p:sp>
      <p:sp>
        <p:nvSpPr>
          <p:cNvPr id="17" name="Chevron 16"/>
          <p:cNvSpPr/>
          <p:nvPr/>
        </p:nvSpPr>
        <p:spPr>
          <a:xfrm>
            <a:off x="7146950" y="48280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65822" y="452628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09714" y="4810531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Decision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9370771" y="482803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89643" y="4526280"/>
            <a:ext cx="2077516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80499" y="4810924"/>
            <a:ext cx="19312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Profit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577840"/>
            <a:ext cx="10149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5623560"/>
            <a:ext cx="9820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DATA-DRIVEN EDGE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Demand forecasting → production planning → procurement → inventory control → lower wastage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28968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rPr dirty="0"/>
              <a:t>STEMBITE FOODS  |  Team 1  |  Marketing of Agricultural Products     </a:t>
            </a:r>
            <a:r>
              <a:rPr lang="en-IN" dirty="0"/>
              <a:t>9</a:t>
            </a:r>
            <a:endParaRPr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5DA3DD7-BF14-08F4-E538-1334C536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425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rPr lang="en-IN" dirty="0"/>
              <a:t>8</a:t>
            </a:r>
            <a:r>
              <a:rPr dirty="0"/>
              <a:t>. OPERATIONS, R&amp;D &amp;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17499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Collection</a:t>
            </a:r>
          </a:p>
        </p:txBody>
      </p:sp>
      <p:sp>
        <p:nvSpPr>
          <p:cNvPr id="6" name="Chevron 5"/>
          <p:cNvSpPr/>
          <p:nvPr/>
        </p:nvSpPr>
        <p:spPr>
          <a:xfrm>
            <a:off x="1865375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84248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87880" y="1728511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Sorting</a:t>
            </a:r>
          </a:p>
        </p:txBody>
      </p:sp>
      <p:sp>
        <p:nvSpPr>
          <p:cNvPr id="9" name="Chevron 8"/>
          <p:cNvSpPr/>
          <p:nvPr/>
        </p:nvSpPr>
        <p:spPr>
          <a:xfrm>
            <a:off x="3255263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4135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19" y="1706044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Shredding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4645151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64024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37176" y="1706044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Drying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6035040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53912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1717499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Grinding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7424927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43799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6951" y="1728511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Sieving</a:t>
            </a:r>
          </a:p>
        </p:txBody>
      </p:sp>
      <p:sp>
        <p:nvSpPr>
          <p:cNvPr id="21" name="Chevron 20"/>
          <p:cNvSpPr/>
          <p:nvPr/>
        </p:nvSpPr>
        <p:spPr>
          <a:xfrm>
            <a:off x="8814815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33688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1704078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Testing</a:t>
            </a:r>
          </a:p>
        </p:txBody>
      </p:sp>
      <p:sp>
        <p:nvSpPr>
          <p:cNvPr id="24" name="Chevron 23"/>
          <p:cNvSpPr/>
          <p:nvPr/>
        </p:nvSpPr>
        <p:spPr>
          <a:xfrm>
            <a:off x="10204703" y="1719072"/>
            <a:ext cx="109728" cy="274320"/>
          </a:xfrm>
          <a:prstGeom prst="chevron">
            <a:avLst/>
          </a:prstGeom>
          <a:solidFill>
            <a:srgbClr val="E0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23576" y="1417320"/>
            <a:ext cx="124358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26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08920" y="1741932"/>
            <a:ext cx="1097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3028"/>
                </a:solidFill>
              </a:defRPr>
            </a:pPr>
            <a:r>
              <a:t>Packaging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2880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2990088"/>
            <a:ext cx="314553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🔬 R&amp;D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dirty="0"/>
              <a:t>R&amp;D = Research &amp; Development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Fibre</a:t>
            </a:r>
            <a:r>
              <a:rPr dirty="0"/>
              <a:t> consistency</a:t>
            </a:r>
            <a:br>
              <a:rPr dirty="0"/>
            </a:br>
            <a:r>
              <a:rPr dirty="0"/>
              <a:t>• Product formulation</a:t>
            </a:r>
            <a:br>
              <a:rPr dirty="0"/>
            </a:br>
            <a:r>
              <a:rPr dirty="0"/>
              <a:t>• Shelf-life testing</a:t>
            </a:r>
            <a:br>
              <a:rPr dirty="0"/>
            </a:br>
            <a:r>
              <a:rPr dirty="0"/>
              <a:t>• Packaging improvement</a:t>
            </a:r>
            <a:br>
              <a:rPr dirty="0"/>
            </a:br>
            <a:r>
              <a:rPr dirty="0"/>
              <a:t>• New product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880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35424" y="2990088"/>
            <a:ext cx="314553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🛡️ QUALITY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• Raw-material checks</a:t>
            </a:r>
            <a:br/>
            <a:r>
              <a:t>• Batch testing</a:t>
            </a:r>
            <a:br/>
            <a:r>
              <a:t>• Hygiene &amp; traceability</a:t>
            </a:r>
            <a:br/>
            <a:r>
              <a:t>• Standardized processing</a:t>
            </a:r>
            <a:br/>
            <a:r>
              <a:t>• Food-grade packaging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4" y="2880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0456" y="2990088"/>
            <a:ext cx="314553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📜 COMPLIANCE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FSSAI = Food Safety and Standards Authority of India</a:t>
            </a:r>
            <a:br/>
            <a:br/>
            <a:r>
              <a:t>Applicable licensing/registration, standards, labelling and claims requirements must be followed.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65375" y="5373919"/>
            <a:ext cx="8503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93392" y="5458968"/>
            <a:ext cx="81747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rPr dirty="0"/>
              <a:t>NO UNSUPPORTED HEALTH CLAIMS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dirty="0"/>
              <a:t>Use only substantiated and legally permitted nutrition/health claims.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334418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rPr dirty="0"/>
              <a:t>STEMBITE FOODS  |  Team 1  |  Marketing of Agricultural Products     </a:t>
            </a:r>
            <a:r>
              <a:rPr lang="en-IN" dirty="0"/>
              <a:t>10</a:t>
            </a:r>
            <a:endParaRPr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D7796B0-9ECC-4746-3A7A-A27DA8BA6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rPr dirty="0"/>
              <a:t>9. YEAR-1 FINANCIAL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62"/>
                </a:solidFill>
              </a:defRPr>
            </a:pPr>
            <a:r>
              <a:t>Illustrative management projections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34440"/>
          <a:ext cx="60350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03720" y="12801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68312" y="1389888"/>
            <a:ext cx="172821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REVENUE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₹81.4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2801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08592" y="1389888"/>
            <a:ext cx="172821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COGS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₹44.2 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43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852928"/>
            <a:ext cx="172821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GROSS PROFIT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₹37.2 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743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08592" y="2852928"/>
            <a:ext cx="172821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EBITDA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₹17.7 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2062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68312" y="4315968"/>
            <a:ext cx="172821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NET PROFIT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₹11.2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42062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592" y="4315968"/>
            <a:ext cx="172821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ROI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≈22.4%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94960"/>
            <a:ext cx="5394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5441762"/>
            <a:ext cx="5065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BREAK-EVEN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≈ ₹42–43 lakh annual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0412" y="5559552"/>
            <a:ext cx="49377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5504688"/>
            <a:ext cx="46085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KEY TERMS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COGS = Cost of Goods Sold | EBITDA = Earnings Before Interest, Taxes, Depreciation &amp; Amortization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11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53E86F-64B6-1DA2-414A-F5E7B20C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6097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693E"/>
                </a:solidFill>
              </a:defRPr>
            </a:pPr>
            <a:r>
              <a:rPr dirty="0"/>
              <a:t>10.</a:t>
            </a:r>
            <a:r>
              <a:rPr lang="en-IN" dirty="0"/>
              <a:t> </a:t>
            </a:r>
            <a:r>
              <a:rPr dirty="0"/>
              <a:t>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62"/>
                </a:solidFill>
              </a:defRPr>
            </a:pPr>
            <a:r>
              <a:t>The ask + why STEMBITE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332841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rPr dirty="0"/>
              <a:t>🦈 THE ASK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rPr dirty="0"/>
              <a:t>₹10 LAKH</a:t>
            </a:r>
            <a:br>
              <a:rPr dirty="0"/>
            </a:br>
            <a:r>
              <a:rPr dirty="0"/>
              <a:t>FOR</a:t>
            </a:r>
            <a:br>
              <a:rPr dirty="0"/>
            </a:br>
            <a:r>
              <a:rPr dirty="0"/>
              <a:t>10% EQUITY</a:t>
            </a:r>
            <a:br>
              <a:rPr dirty="0"/>
            </a:br>
            <a:br>
              <a:rPr dirty="0"/>
            </a:br>
            <a:r>
              <a:rPr dirty="0"/>
              <a:t>Post-money valuation: ₹1 Cr</a:t>
            </a:r>
            <a:br>
              <a:rPr dirty="0"/>
            </a:br>
            <a:r>
              <a:rPr dirty="0"/>
              <a:t>Pre-money valuation: ₹90 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325880"/>
            <a:ext cx="3063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82312" y="1435607"/>
            <a:ext cx="273405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AA3C"/>
                </a:solidFill>
              </a:defRPr>
            </a:pPr>
            <a:r>
              <a:t>🚀 WHY INVEST?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• Agricultural waste utilization</a:t>
            </a:r>
            <a:br/>
            <a:r>
              <a:t>• Multiple products</a:t>
            </a:r>
            <a:br/>
            <a:r>
              <a:t>• B2B + B2C</a:t>
            </a:r>
            <a:br/>
            <a:r>
              <a:t>• Data-driven operations</a:t>
            </a:r>
            <a:br/>
            <a:r>
              <a:t>• Scalable supply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3258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1435607"/>
            <a:ext cx="309981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📈 3-YEAR VISION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Year 1: Validate</a:t>
            </a:r>
            <a:br/>
            <a:r>
              <a:t>Year 2: Expand distribution</a:t>
            </a:r>
            <a:br/>
            <a:r>
              <a:t>Year 3: Scale B2B</a:t>
            </a:r>
            <a:br/>
            <a:br/>
            <a:r>
              <a:t>Projected Year-3 revenue: ≈ ₹1.14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200"/>
            <a:ext cx="10332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6100" y="4211032"/>
            <a:ext cx="10003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028"/>
                </a:solidFill>
              </a:defRPr>
            </a:pPr>
            <a:r>
              <a:rPr sz="1600" b="1" dirty="0"/>
              <a:t>“We are not simply selling banana-stem powder. We are transforming an underutilized agricultural resource into nutrition, farmer value and a scalable agri-food business.”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5486400"/>
            <a:ext cx="6217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5596128"/>
            <a:ext cx="58887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693E"/>
                </a:solidFill>
              </a:defRPr>
            </a:pPr>
            <a:r>
              <a:t>STEMBITE FOODS</a:t>
            </a:r>
          </a:p>
          <a:p>
            <a:pPr>
              <a:defRPr sz="1150">
                <a:solidFill>
                  <a:srgbClr val="233028"/>
                </a:solidFill>
              </a:defRPr>
            </a:pPr>
            <a:r>
              <a:t>WASTE  →  NUTRITION  →  INCOME  → 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F6962"/>
                </a:solidFill>
              </a:defRPr>
            </a:pPr>
            <a:r>
              <a:t>STEMBITE FOODS  |  Team 1  |  Marketing of Agricultural Products     12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035B2C-65B5-F3F0-DBFF-4F0E6AED4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5" y="6268735"/>
            <a:ext cx="501445" cy="5345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996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ll राधे - राधे ll</dc:creator>
  <cp:keywords/>
  <dc:description>generated using python-pptx</dc:description>
  <cp:lastModifiedBy>राधे - राधे</cp:lastModifiedBy>
  <cp:revision>2</cp:revision>
  <dcterms:created xsi:type="dcterms:W3CDTF">2013-01-27T09:14:16Z</dcterms:created>
  <dcterms:modified xsi:type="dcterms:W3CDTF">2026-08-16T06:49:12Z</dcterms:modified>
  <cp:category/>
</cp:coreProperties>
</file>